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Привет. Игорь Иванов, DoctorTeam. Мероприятия для Яндекса, Сбера, Росатома, Сибура, Coca-Cola. Значительная часть клиентов пришла через тендеры.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ХУК. Тендер Ozon — пригласили 168 агентств. Пауза. Вероятность 0,6%. Если каждый положит 40 часов — рынок тратит 7000 человеко-часов, четыре человеко-года, оплачены будут ноль. Вопрос: сколько из них посчитали шансы ДО того, как сели за заявку?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120+ проектов в год, в отдельные годы до 250. Точное число тендеров не считал, но за всё время перевалило за тысячу. Из этих данных выросла система. Отдам её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убеждение, которое ломаю. Тендер — воронка с понятной математикой, как ваша воронка продаж, только с юристом и бухгалтером на входе. И вся работа не там, где вы думаете.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НАША ЦИФРА. Из входящего потока берём в проработку около 20%. И это даже много. Отказ всегда аргументируем — не сжигает отношения, клиент возвращается. Если заходим — выкладываемся полностью, полумер нет. Брать всё подряд — симптом: нет продаж, нет бренда, есть страх.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Слово «тендер» описывает три разных бизнеса. Не три способа одного дела — три бизнеса. Большая часть провалов от переноса опыта с одного на другой. Дисклеймер: я не юрист, нормы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Бюджетные учреждения. Зарегулировано жёстче всех, всё публично в ЕИС. Первый вопрос — не что закупают, а каким способом.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 не выиграете у компании, готовой работать в ноль ради оборота. И не должны хотеть выиграть. 5 секунд на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Госзакупки — единственный рынок, где заказчик показывает свою историю сам. 20 минут работы. Первый пункт — самое информативное место во всём пакете, читать до предмета закупки.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— его будут скринить. Семь признаков по убыванию надёжности. 1 — норм, 2 — идём дёшево шаблоном, 3+ — не идём. Исключение: осознанная «прописка», но списывается на маркетинг.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Скоринг 100 баллов. Обратите внимание на строку «плательщик и отчётность» — фактора нет на других рынках, про него отдельный блок. Самое трудное — не посчитать, а соблюдать. Записывать в таблицу с датой.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Стоп-факторы: не идём независимо от баллов. Показать, не зачитывать.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Формально закон, фактически — положение о закупке, которое заказчик пишет себе сам. Читаете сначала положение, а не документацию по процедуре. Оценка многокритериальная — опыт конвертируется в баллы. Лучший рынок для агентства услуг.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РЫЧАГ. Аккредитация — недели работы и документов, но делается один раз и работает годами. Выберите 2-3 корпорации по своей отрасли и пройдите её ДО того, как появится интересная закупка.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Аналитика. Второй пункт — считаете арифметику: сколько баллов даёт процент скидки и сколько подтверждённый контракт. Часто добрать баллы опытом дешевле, чем ценой.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 же сетка, другие веса. В госах 25 баллов весил способ процедуры. Здесь появились 20 за «мы в пуле» — доступ важнее заявки. Фит подтверждается документом: Росатом, Яндекс, Поклонная, Вьетнам.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пункт — анонс блока про деньги, он будет через пять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Никакого закона — только внутренняя процедура клиента. Бриф, через две недели питч. Решают: попадание в задачу, доступ к ЛПР, проверка контрагента. Самая высокая конверсия и самая низкая предсказуемость. И здесь теряют больше всего — причём не на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Возвращаюсь к тендеру, с которого начал. Никто не прочитает 168 презентаций. Решение — на формальном отсеве или среди 5-6 ожидаемых. Ваш вопрос: сколько участников и будет ли шорт-лист. Если больше 15 без шорт-листа — идти дёшево, концепцию только после шорт-листа.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Входной ценз проверяется ДО того, как посмотрят на идею. Служба безопасности смотрит финотчётность. Если оборот сопоставим с бюджетом проекта — вас снимают. Не потому что плохие, а потому что риск. Рост идёт ступеньками.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Третья таблица в том же макете. Проговорить: строки «критерии оценки» здесь нет вообще — их не существует, оценка субъективна. Зато появились доступ и количество участников. Про действующего подрядчика: «не устроило качество» — шанс, «не устроила цена» — работа в ноль.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СМЕНА РИТМА. Скоринг отвечает на «идти или не идти». Но даже когда решили идти и сделали сильную работу — проект можно потерять. Креатив, смета и документы — база, они важны всегда. Но проигрывается раньше.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Фундамент, уже говорил в начале — повторяю коротко. Брать всё подряд — это симптом: не выстроены продажи, не работает бренд, нет репутации, есть страх отказаться.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Узнать можно только через вопросы, встречи, лояльность, инсайты и интуицию. Не через чтение брифа.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Креатив ради креатива никому не нужен. Нужен креатив, который решает бизнес-задачу. Два инструмента: дебрифинг с доп. вопросами — согласие клиента на отдельный дебриф само по себе индикатор; и бриф-рекап на согласование, чтобы не было интерпретаций.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 ждём — дослать идею, проработать площадки, уточнить нюанс, который на всё влиял. Именно здесь чаще всего решается исход. И важная связка: в госзакупке проактивность после подачи невозможна, там всё решается ДО публикации. Один навык на одном рынке решает исход, на другом запрещён.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пункт звучит очевидно. Но я регулярно вижу, как команды с сильным продуктом теряют проекты именно на этом.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ЧАТА. Всё, что было — про то, как выиграть. Дальше — про то, как выиграть и заработать. Это разные задачи, вторая сложнее. Спросить маржу, прочитать пару ответов.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компании на общей системе ваш счёт без НДС — потерянный вычет, прямое удорожание. У большинства крупных заказчиков это зашито в закупочную политику. Если вы на упрощёнке и хотите к крупным — вопрос не «как выиграть», а «когда переходить на НДС». Первое решение, а не десятое.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СЛАЙД. Менеджер пробежал по открытым источникам, накинул наценку, в смете маржа 30%. Дальше: подрядчики на УСН, входящего НДС нет, зачесть нечем — платим со всей суммы. И они свой налог накидывают в цену — плюс 15%. Это не пессимистичный сценарий, это обычный вторник.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10 млн. Две колонки: как посчитал менеджер и как оказалось. Тридцать процентов превратились в полтора. И это ещё до разговора про сроки оплаты. ЕСЛИ ЕСТЬ СВОЙ ПРИМЕР — рассказать его вместо этого.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услугах деньги двигаются в неприятном порядке. От подачи до денег может пройти полгода — всё это время вы кредитуете заказчика. Если заёмные — считайте честно. Про факторинг: смотрите, ОТ КАКОЙ СУММЫ считается ставка. По нашему опыту с Т-Банком — 2,5% в месяц от изначальной суммы. Я такие условия закрыл и вам не рекомендую.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это число подставляете в главную формулу. Ниже порога — канал убыточен. Не «пока не раскрутился», а убыточен: каждой подачей делаете себе хуже. Win rate считать по трём рынкам отдельно, общий бесполезен. Плюс CAC, срок до денег, доля повторных заказов.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Фактор, который не учитывают вообще никогда, а он стоит человеко-недель. Про казначейское сопровождение: деньги на спецсчёте, каждый платёж подрядчику проходит проверку — «по-быстрому договорились» невозможно в принципе.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ЗАМЕНИТЬ НА ФОТО КОРОБОК, ЕСЛИ ЕСТЬ. У министерств напрямую отчёт всегда сложнее. Рассказать детали: какой заказчик, какой проект, что везли. Разница в трудозатратах — недели. Причём после мероприятия, когда команда переключилась, а деньги ещё не пришли.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вывода. Если в компании нет человека, который умеет собирать документы под бюджетную отчётность — в министерства напрямую не ходите, пока не появится.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Бегло — половину уже разложил по блокам, сводка в записи. Задержаться на «баллы вместо скидки»: скидка 10% съедает всю маржу, два балла за подтверждённый опыт достаются бесплатно. И сильное снижение включает повышенные требования к обеспечению — платите за свою скидку дважды.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ВСТАВИТЬ СКРИНШОТ ОТЧЁТА БОТА. Что работает прямо сейчас, без футурологии. Бот делает первый этап воронки вместо человека. Принцип: ничего не выдумывать — модель, которая додумывает требование, опаснее, чем её отсутствие.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не работает. Про смету: ошибка родилась ровно из «пробежались по открытым источникам» — модель сделает то же самое, только быстрее и убедительнее. Про критерий выбора — это причина номер два из четырёх.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выводов. Проговорить чётко, это то, что унесут.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Канал. Выложу три таблицы скоринга и чек-лист семи признаков заточки. Слайд висит всё время вопросов. Ссылку продублировать в чат конференции.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выигрывать</a:t>
            </a:r>
            <a:endParaRPr lang="en-US" sz="60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тендеры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Игорь Иванов  ·  DoctorTeam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86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  ·   Сбер   ·   Росатом   ·   Сибур   ·   Coca-Cola   ·   Полюс Золото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«Продавай как фаундер»  ·  6 августа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5544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17000" dirty="0"/>
          </a:p>
        </p:txBody>
      </p:sp>
      <p:sp>
        <p:nvSpPr>
          <p:cNvPr id="4" name="Text 1"/>
          <p:cNvSpPr/>
          <p:nvPr/>
        </p:nvSpPr>
        <p:spPr>
          <a:xfrm>
            <a:off x="868680" y="4023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агентств пригласили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один тендер Ozon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68680" y="5212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на входе — 0,6%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потратил около 7 000 человеко-часов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863840" y="182880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7" name="Shape 4"/>
          <p:cNvSpPr/>
          <p:nvPr/>
        </p:nvSpPr>
        <p:spPr>
          <a:xfrm>
            <a:off x="8060436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" name="Shape 5"/>
          <p:cNvSpPr/>
          <p:nvPr/>
        </p:nvSpPr>
        <p:spPr>
          <a:xfrm>
            <a:off x="8257032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" name="Shape 6"/>
          <p:cNvSpPr/>
          <p:nvPr/>
        </p:nvSpPr>
        <p:spPr>
          <a:xfrm>
            <a:off x="8453628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" name="Shape 7"/>
          <p:cNvSpPr/>
          <p:nvPr/>
        </p:nvSpPr>
        <p:spPr>
          <a:xfrm>
            <a:off x="8650224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" name="Shape 8"/>
          <p:cNvSpPr/>
          <p:nvPr/>
        </p:nvSpPr>
        <p:spPr>
          <a:xfrm>
            <a:off x="8846820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" name="Shape 9"/>
          <p:cNvSpPr/>
          <p:nvPr/>
        </p:nvSpPr>
        <p:spPr>
          <a:xfrm>
            <a:off x="9043416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9240012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" name="Shape 11"/>
          <p:cNvSpPr/>
          <p:nvPr/>
        </p:nvSpPr>
        <p:spPr>
          <a:xfrm>
            <a:off x="9436608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" name="Shape 12"/>
          <p:cNvSpPr/>
          <p:nvPr/>
        </p:nvSpPr>
        <p:spPr>
          <a:xfrm>
            <a:off x="9633204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" name="Shape 13"/>
          <p:cNvSpPr/>
          <p:nvPr/>
        </p:nvSpPr>
        <p:spPr>
          <a:xfrm>
            <a:off x="9829800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26396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22992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19588" y="182880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0" name="Shape 17"/>
          <p:cNvSpPr/>
          <p:nvPr/>
        </p:nvSpPr>
        <p:spPr>
          <a:xfrm>
            <a:off x="7863840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1" name="Shape 18"/>
          <p:cNvSpPr/>
          <p:nvPr/>
        </p:nvSpPr>
        <p:spPr>
          <a:xfrm>
            <a:off x="8060436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2" name="Shape 19"/>
          <p:cNvSpPr/>
          <p:nvPr/>
        </p:nvSpPr>
        <p:spPr>
          <a:xfrm>
            <a:off x="8257032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3" name="Shape 20"/>
          <p:cNvSpPr/>
          <p:nvPr/>
        </p:nvSpPr>
        <p:spPr>
          <a:xfrm>
            <a:off x="8453628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4" name="Shape 21"/>
          <p:cNvSpPr/>
          <p:nvPr/>
        </p:nvSpPr>
        <p:spPr>
          <a:xfrm>
            <a:off x="8650224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5" name="Shape 22"/>
          <p:cNvSpPr/>
          <p:nvPr/>
        </p:nvSpPr>
        <p:spPr>
          <a:xfrm>
            <a:off x="8846820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9043416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7" name="Shape 24"/>
          <p:cNvSpPr/>
          <p:nvPr/>
        </p:nvSpPr>
        <p:spPr>
          <a:xfrm>
            <a:off x="9240012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8" name="Shape 25"/>
          <p:cNvSpPr/>
          <p:nvPr/>
        </p:nvSpPr>
        <p:spPr>
          <a:xfrm>
            <a:off x="9436608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9633204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0" name="Shape 27"/>
          <p:cNvSpPr/>
          <p:nvPr/>
        </p:nvSpPr>
        <p:spPr>
          <a:xfrm>
            <a:off x="9829800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1" name="Shape 28"/>
          <p:cNvSpPr/>
          <p:nvPr/>
        </p:nvSpPr>
        <p:spPr>
          <a:xfrm>
            <a:off x="10026396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2" name="Shape 29"/>
          <p:cNvSpPr/>
          <p:nvPr/>
        </p:nvSpPr>
        <p:spPr>
          <a:xfrm>
            <a:off x="10222992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3" name="Shape 30"/>
          <p:cNvSpPr/>
          <p:nvPr/>
        </p:nvSpPr>
        <p:spPr>
          <a:xfrm>
            <a:off x="10419588" y="202539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4" name="Shape 31"/>
          <p:cNvSpPr/>
          <p:nvPr/>
        </p:nvSpPr>
        <p:spPr>
          <a:xfrm>
            <a:off x="7863840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5" name="Shape 32"/>
          <p:cNvSpPr/>
          <p:nvPr/>
        </p:nvSpPr>
        <p:spPr>
          <a:xfrm>
            <a:off x="8060436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6" name="Shape 33"/>
          <p:cNvSpPr/>
          <p:nvPr/>
        </p:nvSpPr>
        <p:spPr>
          <a:xfrm>
            <a:off x="8257032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7" name="Shape 34"/>
          <p:cNvSpPr/>
          <p:nvPr/>
        </p:nvSpPr>
        <p:spPr>
          <a:xfrm>
            <a:off x="8453628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8" name="Shape 35"/>
          <p:cNvSpPr/>
          <p:nvPr/>
        </p:nvSpPr>
        <p:spPr>
          <a:xfrm>
            <a:off x="8650224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9" name="Shape 36"/>
          <p:cNvSpPr/>
          <p:nvPr/>
        </p:nvSpPr>
        <p:spPr>
          <a:xfrm>
            <a:off x="8846820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0" name="Shape 37"/>
          <p:cNvSpPr/>
          <p:nvPr/>
        </p:nvSpPr>
        <p:spPr>
          <a:xfrm>
            <a:off x="9043416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1" name="Shape 38"/>
          <p:cNvSpPr/>
          <p:nvPr/>
        </p:nvSpPr>
        <p:spPr>
          <a:xfrm>
            <a:off x="9240012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2" name="Shape 39"/>
          <p:cNvSpPr/>
          <p:nvPr/>
        </p:nvSpPr>
        <p:spPr>
          <a:xfrm>
            <a:off x="9436608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3" name="Shape 40"/>
          <p:cNvSpPr/>
          <p:nvPr/>
        </p:nvSpPr>
        <p:spPr>
          <a:xfrm>
            <a:off x="9633204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4" name="Shape 41"/>
          <p:cNvSpPr/>
          <p:nvPr/>
        </p:nvSpPr>
        <p:spPr>
          <a:xfrm>
            <a:off x="9829800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5" name="Shape 42"/>
          <p:cNvSpPr/>
          <p:nvPr/>
        </p:nvSpPr>
        <p:spPr>
          <a:xfrm>
            <a:off x="10026396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6" name="Shape 43"/>
          <p:cNvSpPr/>
          <p:nvPr/>
        </p:nvSpPr>
        <p:spPr>
          <a:xfrm>
            <a:off x="10222992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7" name="Shape 44"/>
          <p:cNvSpPr/>
          <p:nvPr/>
        </p:nvSpPr>
        <p:spPr>
          <a:xfrm>
            <a:off x="10419588" y="222199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8" name="Shape 45"/>
          <p:cNvSpPr/>
          <p:nvPr/>
        </p:nvSpPr>
        <p:spPr>
          <a:xfrm>
            <a:off x="7863840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9" name="Shape 46"/>
          <p:cNvSpPr/>
          <p:nvPr/>
        </p:nvSpPr>
        <p:spPr>
          <a:xfrm>
            <a:off x="8060436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0" name="Shape 47"/>
          <p:cNvSpPr/>
          <p:nvPr/>
        </p:nvSpPr>
        <p:spPr>
          <a:xfrm>
            <a:off x="8257032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1" name="Shape 48"/>
          <p:cNvSpPr/>
          <p:nvPr/>
        </p:nvSpPr>
        <p:spPr>
          <a:xfrm>
            <a:off x="8453628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2" name="Shape 49"/>
          <p:cNvSpPr/>
          <p:nvPr/>
        </p:nvSpPr>
        <p:spPr>
          <a:xfrm>
            <a:off x="8650224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3" name="Shape 50"/>
          <p:cNvSpPr/>
          <p:nvPr/>
        </p:nvSpPr>
        <p:spPr>
          <a:xfrm>
            <a:off x="8846820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4" name="Shape 51"/>
          <p:cNvSpPr/>
          <p:nvPr/>
        </p:nvSpPr>
        <p:spPr>
          <a:xfrm>
            <a:off x="9043416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5" name="Shape 52"/>
          <p:cNvSpPr/>
          <p:nvPr/>
        </p:nvSpPr>
        <p:spPr>
          <a:xfrm>
            <a:off x="9240012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6" name="Shape 53"/>
          <p:cNvSpPr/>
          <p:nvPr/>
        </p:nvSpPr>
        <p:spPr>
          <a:xfrm>
            <a:off x="9436608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7" name="Shape 54"/>
          <p:cNvSpPr/>
          <p:nvPr/>
        </p:nvSpPr>
        <p:spPr>
          <a:xfrm>
            <a:off x="9633204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8" name="Shape 55"/>
          <p:cNvSpPr/>
          <p:nvPr/>
        </p:nvSpPr>
        <p:spPr>
          <a:xfrm>
            <a:off x="9829800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9" name="Shape 56"/>
          <p:cNvSpPr/>
          <p:nvPr/>
        </p:nvSpPr>
        <p:spPr>
          <a:xfrm>
            <a:off x="10026396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0" name="Shape 57"/>
          <p:cNvSpPr/>
          <p:nvPr/>
        </p:nvSpPr>
        <p:spPr>
          <a:xfrm>
            <a:off x="10222992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1" name="Shape 58"/>
          <p:cNvSpPr/>
          <p:nvPr/>
        </p:nvSpPr>
        <p:spPr>
          <a:xfrm>
            <a:off x="10419588" y="241858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2" name="Shape 59"/>
          <p:cNvSpPr/>
          <p:nvPr/>
        </p:nvSpPr>
        <p:spPr>
          <a:xfrm>
            <a:off x="7863840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3" name="Shape 60"/>
          <p:cNvSpPr/>
          <p:nvPr/>
        </p:nvSpPr>
        <p:spPr>
          <a:xfrm>
            <a:off x="8060436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4" name="Shape 61"/>
          <p:cNvSpPr/>
          <p:nvPr/>
        </p:nvSpPr>
        <p:spPr>
          <a:xfrm>
            <a:off x="8257032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5" name="Shape 62"/>
          <p:cNvSpPr/>
          <p:nvPr/>
        </p:nvSpPr>
        <p:spPr>
          <a:xfrm>
            <a:off x="8453628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6" name="Shape 63"/>
          <p:cNvSpPr/>
          <p:nvPr/>
        </p:nvSpPr>
        <p:spPr>
          <a:xfrm>
            <a:off x="8650224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7" name="Shape 64"/>
          <p:cNvSpPr/>
          <p:nvPr/>
        </p:nvSpPr>
        <p:spPr>
          <a:xfrm>
            <a:off x="8846820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8" name="Shape 65"/>
          <p:cNvSpPr/>
          <p:nvPr/>
        </p:nvSpPr>
        <p:spPr>
          <a:xfrm>
            <a:off x="9043416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9" name="Shape 66"/>
          <p:cNvSpPr/>
          <p:nvPr/>
        </p:nvSpPr>
        <p:spPr>
          <a:xfrm>
            <a:off x="9240012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0" name="Shape 67"/>
          <p:cNvSpPr/>
          <p:nvPr/>
        </p:nvSpPr>
        <p:spPr>
          <a:xfrm>
            <a:off x="9436608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1" name="Shape 68"/>
          <p:cNvSpPr/>
          <p:nvPr/>
        </p:nvSpPr>
        <p:spPr>
          <a:xfrm>
            <a:off x="9633204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2" name="Shape 69"/>
          <p:cNvSpPr/>
          <p:nvPr/>
        </p:nvSpPr>
        <p:spPr>
          <a:xfrm>
            <a:off x="9829800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3" name="Shape 70"/>
          <p:cNvSpPr/>
          <p:nvPr/>
        </p:nvSpPr>
        <p:spPr>
          <a:xfrm>
            <a:off x="10026396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4" name="Shape 71"/>
          <p:cNvSpPr/>
          <p:nvPr/>
        </p:nvSpPr>
        <p:spPr>
          <a:xfrm>
            <a:off x="10222992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5" name="Shape 72"/>
          <p:cNvSpPr/>
          <p:nvPr/>
        </p:nvSpPr>
        <p:spPr>
          <a:xfrm>
            <a:off x="10419588" y="261518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6" name="Shape 73"/>
          <p:cNvSpPr/>
          <p:nvPr/>
        </p:nvSpPr>
        <p:spPr>
          <a:xfrm>
            <a:off x="7863840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7" name="Shape 74"/>
          <p:cNvSpPr/>
          <p:nvPr/>
        </p:nvSpPr>
        <p:spPr>
          <a:xfrm>
            <a:off x="8060436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8" name="Shape 75"/>
          <p:cNvSpPr/>
          <p:nvPr/>
        </p:nvSpPr>
        <p:spPr>
          <a:xfrm>
            <a:off x="8257032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9" name="Shape 76"/>
          <p:cNvSpPr/>
          <p:nvPr/>
        </p:nvSpPr>
        <p:spPr>
          <a:xfrm>
            <a:off x="8453628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0" name="Shape 77"/>
          <p:cNvSpPr/>
          <p:nvPr/>
        </p:nvSpPr>
        <p:spPr>
          <a:xfrm>
            <a:off x="8650224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1" name="Shape 78"/>
          <p:cNvSpPr/>
          <p:nvPr/>
        </p:nvSpPr>
        <p:spPr>
          <a:xfrm>
            <a:off x="8846820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2" name="Shape 79"/>
          <p:cNvSpPr/>
          <p:nvPr/>
        </p:nvSpPr>
        <p:spPr>
          <a:xfrm>
            <a:off x="9043416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3" name="Shape 80"/>
          <p:cNvSpPr/>
          <p:nvPr/>
        </p:nvSpPr>
        <p:spPr>
          <a:xfrm>
            <a:off x="9240012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4" name="Shape 81"/>
          <p:cNvSpPr/>
          <p:nvPr/>
        </p:nvSpPr>
        <p:spPr>
          <a:xfrm>
            <a:off x="9436608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5" name="Shape 82"/>
          <p:cNvSpPr/>
          <p:nvPr/>
        </p:nvSpPr>
        <p:spPr>
          <a:xfrm>
            <a:off x="9633204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6" name="Shape 83"/>
          <p:cNvSpPr/>
          <p:nvPr/>
        </p:nvSpPr>
        <p:spPr>
          <a:xfrm>
            <a:off x="9829800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7" name="Shape 84"/>
          <p:cNvSpPr/>
          <p:nvPr/>
        </p:nvSpPr>
        <p:spPr>
          <a:xfrm>
            <a:off x="10026396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8" name="Shape 85"/>
          <p:cNvSpPr/>
          <p:nvPr/>
        </p:nvSpPr>
        <p:spPr>
          <a:xfrm>
            <a:off x="10222992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9" name="Shape 86"/>
          <p:cNvSpPr/>
          <p:nvPr/>
        </p:nvSpPr>
        <p:spPr>
          <a:xfrm>
            <a:off x="10419588" y="281178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0" name="Shape 87"/>
          <p:cNvSpPr/>
          <p:nvPr/>
        </p:nvSpPr>
        <p:spPr>
          <a:xfrm>
            <a:off x="7863840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1" name="Shape 88"/>
          <p:cNvSpPr/>
          <p:nvPr/>
        </p:nvSpPr>
        <p:spPr>
          <a:xfrm>
            <a:off x="8060436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2" name="Shape 89"/>
          <p:cNvSpPr/>
          <p:nvPr/>
        </p:nvSpPr>
        <p:spPr>
          <a:xfrm>
            <a:off x="8257032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3" name="Shape 90"/>
          <p:cNvSpPr/>
          <p:nvPr/>
        </p:nvSpPr>
        <p:spPr>
          <a:xfrm>
            <a:off x="8453628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4" name="Shape 91"/>
          <p:cNvSpPr/>
          <p:nvPr/>
        </p:nvSpPr>
        <p:spPr>
          <a:xfrm>
            <a:off x="8650224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5" name="Shape 92"/>
          <p:cNvSpPr/>
          <p:nvPr/>
        </p:nvSpPr>
        <p:spPr>
          <a:xfrm>
            <a:off x="8846820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6" name="Shape 93"/>
          <p:cNvSpPr/>
          <p:nvPr/>
        </p:nvSpPr>
        <p:spPr>
          <a:xfrm>
            <a:off x="9043416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7" name="Shape 94"/>
          <p:cNvSpPr/>
          <p:nvPr/>
        </p:nvSpPr>
        <p:spPr>
          <a:xfrm>
            <a:off x="9240012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8" name="Shape 95"/>
          <p:cNvSpPr/>
          <p:nvPr/>
        </p:nvSpPr>
        <p:spPr>
          <a:xfrm>
            <a:off x="9436608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9" name="Shape 96"/>
          <p:cNvSpPr/>
          <p:nvPr/>
        </p:nvSpPr>
        <p:spPr>
          <a:xfrm>
            <a:off x="9633204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0" name="Shape 97"/>
          <p:cNvSpPr/>
          <p:nvPr/>
        </p:nvSpPr>
        <p:spPr>
          <a:xfrm>
            <a:off x="9829800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1" name="Shape 98"/>
          <p:cNvSpPr/>
          <p:nvPr/>
        </p:nvSpPr>
        <p:spPr>
          <a:xfrm>
            <a:off x="10026396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2" name="Shape 99"/>
          <p:cNvSpPr/>
          <p:nvPr/>
        </p:nvSpPr>
        <p:spPr>
          <a:xfrm>
            <a:off x="10222992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3" name="Shape 100"/>
          <p:cNvSpPr/>
          <p:nvPr/>
        </p:nvSpPr>
        <p:spPr>
          <a:xfrm>
            <a:off x="10419588" y="300837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4" name="Shape 101"/>
          <p:cNvSpPr/>
          <p:nvPr/>
        </p:nvSpPr>
        <p:spPr>
          <a:xfrm>
            <a:off x="7863840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5" name="Shape 102"/>
          <p:cNvSpPr/>
          <p:nvPr/>
        </p:nvSpPr>
        <p:spPr>
          <a:xfrm>
            <a:off x="8060436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257032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453628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8" name="Shape 105"/>
          <p:cNvSpPr/>
          <p:nvPr/>
        </p:nvSpPr>
        <p:spPr>
          <a:xfrm>
            <a:off x="8650224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846820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0" name="Shape 107"/>
          <p:cNvSpPr/>
          <p:nvPr/>
        </p:nvSpPr>
        <p:spPr>
          <a:xfrm>
            <a:off x="9043416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1" name="Shape 108"/>
          <p:cNvSpPr/>
          <p:nvPr/>
        </p:nvSpPr>
        <p:spPr>
          <a:xfrm>
            <a:off x="9240012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2" name="Shape 109"/>
          <p:cNvSpPr/>
          <p:nvPr/>
        </p:nvSpPr>
        <p:spPr>
          <a:xfrm>
            <a:off x="9436608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3" name="Shape 110"/>
          <p:cNvSpPr/>
          <p:nvPr/>
        </p:nvSpPr>
        <p:spPr>
          <a:xfrm>
            <a:off x="9633204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4" name="Shape 111"/>
          <p:cNvSpPr/>
          <p:nvPr/>
        </p:nvSpPr>
        <p:spPr>
          <a:xfrm>
            <a:off x="9829800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0026396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6" name="Shape 113"/>
          <p:cNvSpPr/>
          <p:nvPr/>
        </p:nvSpPr>
        <p:spPr>
          <a:xfrm>
            <a:off x="10222992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7" name="Shape 114"/>
          <p:cNvSpPr/>
          <p:nvPr/>
        </p:nvSpPr>
        <p:spPr>
          <a:xfrm>
            <a:off x="10419588" y="320497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8" name="Shape 115"/>
          <p:cNvSpPr/>
          <p:nvPr/>
        </p:nvSpPr>
        <p:spPr>
          <a:xfrm>
            <a:off x="7863840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9" name="Shape 116"/>
          <p:cNvSpPr/>
          <p:nvPr/>
        </p:nvSpPr>
        <p:spPr>
          <a:xfrm>
            <a:off x="8060436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0" name="Shape 117"/>
          <p:cNvSpPr/>
          <p:nvPr/>
        </p:nvSpPr>
        <p:spPr>
          <a:xfrm>
            <a:off x="8257032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1" name="Shape 118"/>
          <p:cNvSpPr/>
          <p:nvPr/>
        </p:nvSpPr>
        <p:spPr>
          <a:xfrm>
            <a:off x="8453628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2" name="Shape 119"/>
          <p:cNvSpPr/>
          <p:nvPr/>
        </p:nvSpPr>
        <p:spPr>
          <a:xfrm>
            <a:off x="8650224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3" name="Shape 120"/>
          <p:cNvSpPr/>
          <p:nvPr/>
        </p:nvSpPr>
        <p:spPr>
          <a:xfrm>
            <a:off x="8846820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4" name="Shape 121"/>
          <p:cNvSpPr/>
          <p:nvPr/>
        </p:nvSpPr>
        <p:spPr>
          <a:xfrm>
            <a:off x="9043416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5" name="Shape 122"/>
          <p:cNvSpPr/>
          <p:nvPr/>
        </p:nvSpPr>
        <p:spPr>
          <a:xfrm>
            <a:off x="9240012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6" name="Shape 123"/>
          <p:cNvSpPr/>
          <p:nvPr/>
        </p:nvSpPr>
        <p:spPr>
          <a:xfrm>
            <a:off x="9436608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7" name="Shape 124"/>
          <p:cNvSpPr/>
          <p:nvPr/>
        </p:nvSpPr>
        <p:spPr>
          <a:xfrm>
            <a:off x="9633204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8" name="Shape 125"/>
          <p:cNvSpPr/>
          <p:nvPr/>
        </p:nvSpPr>
        <p:spPr>
          <a:xfrm>
            <a:off x="9829800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9" name="Shape 126"/>
          <p:cNvSpPr/>
          <p:nvPr/>
        </p:nvSpPr>
        <p:spPr>
          <a:xfrm>
            <a:off x="10026396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222992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1" name="Shape 128"/>
          <p:cNvSpPr/>
          <p:nvPr/>
        </p:nvSpPr>
        <p:spPr>
          <a:xfrm>
            <a:off x="10419588" y="340156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2" name="Shape 129"/>
          <p:cNvSpPr/>
          <p:nvPr/>
        </p:nvSpPr>
        <p:spPr>
          <a:xfrm>
            <a:off x="7863840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3" name="Shape 130"/>
          <p:cNvSpPr/>
          <p:nvPr/>
        </p:nvSpPr>
        <p:spPr>
          <a:xfrm>
            <a:off x="8060436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4" name="Shape 131"/>
          <p:cNvSpPr/>
          <p:nvPr/>
        </p:nvSpPr>
        <p:spPr>
          <a:xfrm>
            <a:off x="8257032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5" name="Shape 132"/>
          <p:cNvSpPr/>
          <p:nvPr/>
        </p:nvSpPr>
        <p:spPr>
          <a:xfrm>
            <a:off x="8453628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650224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7" name="Shape 134"/>
          <p:cNvSpPr/>
          <p:nvPr/>
        </p:nvSpPr>
        <p:spPr>
          <a:xfrm>
            <a:off x="8846820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8" name="Shape 135"/>
          <p:cNvSpPr/>
          <p:nvPr/>
        </p:nvSpPr>
        <p:spPr>
          <a:xfrm>
            <a:off x="9043416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9" name="Shape 136"/>
          <p:cNvSpPr/>
          <p:nvPr/>
        </p:nvSpPr>
        <p:spPr>
          <a:xfrm>
            <a:off x="9240012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0" name="Shape 137"/>
          <p:cNvSpPr/>
          <p:nvPr/>
        </p:nvSpPr>
        <p:spPr>
          <a:xfrm>
            <a:off x="9436608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1" name="Shape 138"/>
          <p:cNvSpPr/>
          <p:nvPr/>
        </p:nvSpPr>
        <p:spPr>
          <a:xfrm>
            <a:off x="9633204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2" name="Shape 139"/>
          <p:cNvSpPr/>
          <p:nvPr/>
        </p:nvSpPr>
        <p:spPr>
          <a:xfrm>
            <a:off x="9829800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3" name="Shape 140"/>
          <p:cNvSpPr/>
          <p:nvPr/>
        </p:nvSpPr>
        <p:spPr>
          <a:xfrm>
            <a:off x="10026396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4" name="Shape 141"/>
          <p:cNvSpPr/>
          <p:nvPr/>
        </p:nvSpPr>
        <p:spPr>
          <a:xfrm>
            <a:off x="10222992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5" name="Shape 142"/>
          <p:cNvSpPr/>
          <p:nvPr/>
        </p:nvSpPr>
        <p:spPr>
          <a:xfrm>
            <a:off x="10419588" y="359816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6" name="Shape 143"/>
          <p:cNvSpPr/>
          <p:nvPr/>
        </p:nvSpPr>
        <p:spPr>
          <a:xfrm>
            <a:off x="7863840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7" name="Shape 144"/>
          <p:cNvSpPr/>
          <p:nvPr/>
        </p:nvSpPr>
        <p:spPr>
          <a:xfrm>
            <a:off x="8060436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8" name="Shape 145"/>
          <p:cNvSpPr/>
          <p:nvPr/>
        </p:nvSpPr>
        <p:spPr>
          <a:xfrm>
            <a:off x="8257032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9" name="Shape 146"/>
          <p:cNvSpPr/>
          <p:nvPr/>
        </p:nvSpPr>
        <p:spPr>
          <a:xfrm>
            <a:off x="8453628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0" name="Shape 147"/>
          <p:cNvSpPr/>
          <p:nvPr/>
        </p:nvSpPr>
        <p:spPr>
          <a:xfrm>
            <a:off x="8650224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1" name="Shape 148"/>
          <p:cNvSpPr/>
          <p:nvPr/>
        </p:nvSpPr>
        <p:spPr>
          <a:xfrm>
            <a:off x="8846820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2" name="Shape 149"/>
          <p:cNvSpPr/>
          <p:nvPr/>
        </p:nvSpPr>
        <p:spPr>
          <a:xfrm>
            <a:off x="9043416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3" name="Shape 150"/>
          <p:cNvSpPr/>
          <p:nvPr/>
        </p:nvSpPr>
        <p:spPr>
          <a:xfrm>
            <a:off x="9240012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4" name="Shape 151"/>
          <p:cNvSpPr/>
          <p:nvPr/>
        </p:nvSpPr>
        <p:spPr>
          <a:xfrm>
            <a:off x="9436608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5" name="Shape 152"/>
          <p:cNvSpPr/>
          <p:nvPr/>
        </p:nvSpPr>
        <p:spPr>
          <a:xfrm>
            <a:off x="9633204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6" name="Shape 153"/>
          <p:cNvSpPr/>
          <p:nvPr/>
        </p:nvSpPr>
        <p:spPr>
          <a:xfrm>
            <a:off x="9829800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7" name="Shape 154"/>
          <p:cNvSpPr/>
          <p:nvPr/>
        </p:nvSpPr>
        <p:spPr>
          <a:xfrm>
            <a:off x="10026396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8" name="Shape 155"/>
          <p:cNvSpPr/>
          <p:nvPr/>
        </p:nvSpPr>
        <p:spPr>
          <a:xfrm>
            <a:off x="10222992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9" name="Shape 156"/>
          <p:cNvSpPr/>
          <p:nvPr/>
        </p:nvSpPr>
        <p:spPr>
          <a:xfrm>
            <a:off x="10419588" y="37947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0" name="Shape 157"/>
          <p:cNvSpPr/>
          <p:nvPr/>
        </p:nvSpPr>
        <p:spPr>
          <a:xfrm>
            <a:off x="7863840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1" name="Shape 158"/>
          <p:cNvSpPr/>
          <p:nvPr/>
        </p:nvSpPr>
        <p:spPr>
          <a:xfrm>
            <a:off x="8060436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2" name="Shape 159"/>
          <p:cNvSpPr/>
          <p:nvPr/>
        </p:nvSpPr>
        <p:spPr>
          <a:xfrm>
            <a:off x="8257032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3" name="Shape 160"/>
          <p:cNvSpPr/>
          <p:nvPr/>
        </p:nvSpPr>
        <p:spPr>
          <a:xfrm>
            <a:off x="8453628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4" name="Shape 161"/>
          <p:cNvSpPr/>
          <p:nvPr/>
        </p:nvSpPr>
        <p:spPr>
          <a:xfrm>
            <a:off x="8650224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5" name="Shape 162"/>
          <p:cNvSpPr/>
          <p:nvPr/>
        </p:nvSpPr>
        <p:spPr>
          <a:xfrm>
            <a:off x="8846820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6" name="Shape 163"/>
          <p:cNvSpPr/>
          <p:nvPr/>
        </p:nvSpPr>
        <p:spPr>
          <a:xfrm>
            <a:off x="9043416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7" name="Shape 164"/>
          <p:cNvSpPr/>
          <p:nvPr/>
        </p:nvSpPr>
        <p:spPr>
          <a:xfrm>
            <a:off x="9240012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8" name="Shape 165"/>
          <p:cNvSpPr/>
          <p:nvPr/>
        </p:nvSpPr>
        <p:spPr>
          <a:xfrm>
            <a:off x="9436608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9" name="Shape 166"/>
          <p:cNvSpPr/>
          <p:nvPr/>
        </p:nvSpPr>
        <p:spPr>
          <a:xfrm>
            <a:off x="9633204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0" name="Shape 167"/>
          <p:cNvSpPr/>
          <p:nvPr/>
        </p:nvSpPr>
        <p:spPr>
          <a:xfrm>
            <a:off x="9829800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1" name="Shape 168"/>
          <p:cNvSpPr/>
          <p:nvPr/>
        </p:nvSpPr>
        <p:spPr>
          <a:xfrm>
            <a:off x="10026396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2" name="Shape 169"/>
          <p:cNvSpPr/>
          <p:nvPr/>
        </p:nvSpPr>
        <p:spPr>
          <a:xfrm>
            <a:off x="10222992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3" name="Shape 170"/>
          <p:cNvSpPr/>
          <p:nvPr/>
        </p:nvSpPr>
        <p:spPr>
          <a:xfrm>
            <a:off x="10419588" y="39913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800" y="685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0120" y="822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78408" y="1536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проектов в год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389120" y="685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3440" y="822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81728" y="1536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отдельные годы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685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822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385048" y="1536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тендеров за всё время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25 минут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868680" y="3515868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3741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рынка тендеров и почему навык с одного не работает на другом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68680" y="4174236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03250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аналитика и какой скоринг на каждом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68680" y="4832604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46908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агентства проигрывают ещё до отправки предложения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68680" y="5490972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53492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 вашей смете растворяется 37% денег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103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trike="sngStrike" dirty="0">
                <a:solidFill>
                  <a:srgbClr val="55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ЛОТЕРЕЯ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30936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355080" y="3383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понятной математикой и конверсией, которую можно посчитать заранее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0" dirty="0"/>
          </a:p>
        </p:txBody>
      </p:sp>
      <p:sp>
        <p:nvSpPr>
          <p:cNvPr id="4" name="Text 1"/>
          <p:cNvSpPr/>
          <p:nvPr/>
        </p:nvSpPr>
        <p:spPr>
          <a:xfrm>
            <a:off x="868680" y="3474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входящего потока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берём в проработку.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это даже много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94360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всегда аргументируем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63640" y="19751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«мы загружены», а почему именно в этот проект идём, а в этот сейчас не можем. Объяснённый отказ не сжигает отношения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заходим — полностью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263640" y="35753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полумер нет. Именно возможность так работать и покупается отказом от остальных 80%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Проигрыш заложен ещё в момент, когда сказали «да»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три разных бизнеса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8580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5840" y="214884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44-ФЗ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Бюджетные учреждения,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министерства, администрации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4617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цена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48840"/>
            <a:ext cx="182880" cy="182880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ГОСКОРПОРАЦИИ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70916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223-ФЗ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0916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Росатом, Сбер, РЖД,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Сибур, Газпром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09160" y="4617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квалификация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9244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2148840"/>
            <a:ext cx="182880" cy="182880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КОММЕРЦИЯ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41248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закона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Ozon, банки, ритейл, IT —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процедура клиента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617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решают люди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юрист. Нормы и положения заказчиков меняются — перед подачей сверяйтесь с актуальной редакцией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· 44-ФЗ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ПЕРВЫЙ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вопрос — не «что закупают»,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каким способом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26517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8529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7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Аукцион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389120" y="28986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побеждает только цена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70332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904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7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котировок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389120" y="39502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на малых суммах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" y="475488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4956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Конкурс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389120" y="50017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+ квалификация, опыт, качество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· 44-ФЗ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Увидели аукцион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творческую услугу —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закрывайте вкладку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· 44-ФЗ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смотрим — 20 минут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20116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4592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критериев оценки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информативное место в пакете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08660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контрактов заказчика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8660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выигрывал, с каким снижением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3375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645920" y="3538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Протоколы прошлых процедур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4592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участников, кого отклоняли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33375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086600" y="3538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План-график закупок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8660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заказчик планирует дальше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7240" y="46634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64592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Картотека арбитражных дел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64592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судится ли с подрядчиками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17920" y="46634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708660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РНП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8660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вносил и за что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· 44-ФЗ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Тендер уже под кого-то написан, если: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16733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подачи короче, чем реально нужно на подготовку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22219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описывает то, что уже существует — площадка, оборудование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27706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опыту подогнаны под одну компанию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3319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Начальная цена неправдоподобно точная или низкая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71600" y="386791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прошлые процедуры забрал один поставщик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296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71600" y="44165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 не отвечает на запрос разъяснений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29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71600" y="49651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Мероприятие через три недели после подведения итогов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77240" y="56235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признак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51560" y="5998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389120" y="56235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признака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63440" y="5998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идём дёшево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001000" y="56235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75320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 больше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75320" y="5998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идём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· 44-ФЗ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Идти или не идти: 100 баллов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процедуры и вес нестоимостных критериев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190195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190195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23865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Заточка (минус за каждый признак)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35040" y="2505456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505456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66960" y="2386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2916936"/>
            <a:ext cx="10607040" cy="530352"/>
          </a:xfrm>
          <a:prstGeom prst="roundRect">
            <a:avLst>
              <a:gd name="adj" fmla="val 13793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990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Плательщик и тяжесть отчётности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3108960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108960"/>
            <a:ext cx="2194560" cy="173736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9900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593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после НДС, обеспечения, постоплаты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35040" y="3712464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712464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66960" y="3593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22960" y="41970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Фит: исполненный контракт с актом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035040" y="4315968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315968"/>
            <a:ext cx="1463040" cy="173736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66960" y="41970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229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Ресурс: успеваем ли физически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035040" y="491947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4919472"/>
            <a:ext cx="731520" cy="173736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4800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77240" y="5623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2194560" y="5705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и вкладываемся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389120" y="5623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5806440" y="5705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дёшево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001000" y="5623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9418320" y="5705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идём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· 44-ФЗ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СТОП-ФАКТОРЫ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идём независимо от баллов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2331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на творческую услугу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944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80160" y="29900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свободных денег на обеспечение заявки и контракта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6027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280160" y="36484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Казначейское сопровождение при отсутствии оборотки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42611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80160" y="43068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 больше признаков заточки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ГОСКОРПОРАЦИИ · 223-ФЗ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ВТОРОЙ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общий закон, а положение о закупке,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которое заказчик пишет себе сам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283464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953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многокритериальная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33101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цена, опыт, квалификация команды, качество предложения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88620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конвертируется в баллы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97280" y="43616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рынок из трёх для агентства услуг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49377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Закупка часто идёт из пула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97280" y="54132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аккредитация, предквалификация, реестр одобренных поставщиков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ГОСКОРПОРАЦИИ · 223-ФЗ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начинается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 тендера,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 попадания в пул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аккредитация делается один раз — работает годами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ГОСКОРПОРАЦИИ · 223-ФЗ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смотрим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20116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4592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Положение о закупке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заказчик закупает вообще всё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08660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начисления баллов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8660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стоит процент скидки и сколько — контракт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3375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645920" y="3538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договоров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4592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кого покупал, повторяются ли поставщики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33375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086600" y="3538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 и сроки аккредитации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8660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АСТ, РТС, Росэлторг, B2B-Center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7240" y="46634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64592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обеспечению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64592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выше, чем в госах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17920" y="46634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708660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оплаты в договоре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8660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до подачи, а не после победы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ГОСКОРПОРАЦИИ · 223-ФЗ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макет — другие веса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оценки: сколько весит квалификация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190195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1901952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9B6BD9"/>
          </a:solidFill>
          <a:ln w="12700">
            <a:solidFill>
              <a:srgbClr val="9B6B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607040" cy="530352"/>
          </a:xfrm>
          <a:prstGeom prst="roundRect">
            <a:avLst>
              <a:gd name="adj" fmla="val 13793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3865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 пуле: аккредитация, история с заказчиком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35040" y="2505456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505456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9B6BD9"/>
          </a:solidFill>
          <a:ln w="12700">
            <a:solidFill>
              <a:srgbClr val="9B6B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0" y="2386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2990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Заточка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3108960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108960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9B6BD9"/>
          </a:solidFill>
          <a:ln w="12700">
            <a:solidFill>
              <a:srgbClr val="9B6B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9900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593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Экономика: НДС, обеспечение, срок оплаты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35040" y="3712464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712464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9B6BD9"/>
          </a:solidFill>
          <a:ln w="12700">
            <a:solidFill>
              <a:srgbClr val="9B6B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66960" y="3593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22960" y="41970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Фит: кейсы под отрасль, подтверждённые документами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035040" y="4315968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315968"/>
            <a:ext cx="2194560" cy="173736"/>
          </a:xfrm>
          <a:prstGeom prst="roundRect">
            <a:avLst>
              <a:gd name="adj" fmla="val 26316"/>
            </a:avLst>
          </a:prstGeom>
          <a:solidFill>
            <a:srgbClr val="9B6BD9"/>
          </a:solidFill>
          <a:ln w="12700">
            <a:solidFill>
              <a:srgbClr val="9B6B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66960" y="41970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229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035040" y="491947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4919472"/>
            <a:ext cx="731520" cy="173736"/>
          </a:xfrm>
          <a:prstGeom prst="roundRect">
            <a:avLst>
              <a:gd name="adj" fmla="val 26316"/>
            </a:avLst>
          </a:prstGeom>
          <a:solidFill>
            <a:srgbClr val="9B6BD9"/>
          </a:solidFill>
          <a:ln w="12700">
            <a:solidFill>
              <a:srgbClr val="9B6B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4800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6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«мы такое умеем», а «вот исполненный договор и акт»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ГОСКОРПОРАЦИИ · 223-ФЗ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6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СТОП-ФАКТОРЫ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не идём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508760" y="2194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без НДС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80160" y="3337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проходите по обороту или требованиям к опыту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280160" y="39959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больше, чем можете заморозить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4608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80160" y="465429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успеваете аккредитоваться на площадке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ТРЕТИЙ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Никакого закона — только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внутренняя процедура клиента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2697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   →   две недели   →   питч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77240" y="388620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41148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Попали ли в задачу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389120" y="388620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41148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доступ к ЛПР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001000" y="388620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41148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Проходите ли проверку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контрагента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высокая конверсия из трёх рынков — и самая низкая предсказуемость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агентств — это не тендер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сбор идей рынка и заодно исследование цен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173736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8" name="Shape 5"/>
          <p:cNvSpPr/>
          <p:nvPr/>
        </p:nvSpPr>
        <p:spPr>
          <a:xfrm>
            <a:off x="8060436" y="173736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9" name="Shape 6"/>
          <p:cNvSpPr/>
          <p:nvPr/>
        </p:nvSpPr>
        <p:spPr>
          <a:xfrm>
            <a:off x="8257032" y="173736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0" name="Shape 7"/>
          <p:cNvSpPr/>
          <p:nvPr/>
        </p:nvSpPr>
        <p:spPr>
          <a:xfrm>
            <a:off x="8453628" y="173736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1" name="Shape 8"/>
          <p:cNvSpPr/>
          <p:nvPr/>
        </p:nvSpPr>
        <p:spPr>
          <a:xfrm>
            <a:off x="8650224" y="173736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2" name="Shape 9"/>
          <p:cNvSpPr/>
          <p:nvPr/>
        </p:nvSpPr>
        <p:spPr>
          <a:xfrm>
            <a:off x="8846820" y="1737360"/>
            <a:ext cx="105156" cy="10515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043416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" name="Shape 11"/>
          <p:cNvSpPr/>
          <p:nvPr/>
        </p:nvSpPr>
        <p:spPr>
          <a:xfrm>
            <a:off x="9240012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" name="Shape 12"/>
          <p:cNvSpPr/>
          <p:nvPr/>
        </p:nvSpPr>
        <p:spPr>
          <a:xfrm>
            <a:off x="9436608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" name="Shape 13"/>
          <p:cNvSpPr/>
          <p:nvPr/>
        </p:nvSpPr>
        <p:spPr>
          <a:xfrm>
            <a:off x="9633204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9829800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26396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22992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19588" y="173736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1" name="Shape 18"/>
          <p:cNvSpPr/>
          <p:nvPr/>
        </p:nvSpPr>
        <p:spPr>
          <a:xfrm>
            <a:off x="7863840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2" name="Shape 19"/>
          <p:cNvSpPr/>
          <p:nvPr/>
        </p:nvSpPr>
        <p:spPr>
          <a:xfrm>
            <a:off x="8060436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3" name="Shape 20"/>
          <p:cNvSpPr/>
          <p:nvPr/>
        </p:nvSpPr>
        <p:spPr>
          <a:xfrm>
            <a:off x="8257032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4" name="Shape 21"/>
          <p:cNvSpPr/>
          <p:nvPr/>
        </p:nvSpPr>
        <p:spPr>
          <a:xfrm>
            <a:off x="8453628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5" name="Shape 22"/>
          <p:cNvSpPr/>
          <p:nvPr/>
        </p:nvSpPr>
        <p:spPr>
          <a:xfrm>
            <a:off x="8650224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8846820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7" name="Shape 24"/>
          <p:cNvSpPr/>
          <p:nvPr/>
        </p:nvSpPr>
        <p:spPr>
          <a:xfrm>
            <a:off x="9043416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8" name="Shape 25"/>
          <p:cNvSpPr/>
          <p:nvPr/>
        </p:nvSpPr>
        <p:spPr>
          <a:xfrm>
            <a:off x="9240012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9436608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0" name="Shape 27"/>
          <p:cNvSpPr/>
          <p:nvPr/>
        </p:nvSpPr>
        <p:spPr>
          <a:xfrm>
            <a:off x="9633204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1" name="Shape 28"/>
          <p:cNvSpPr/>
          <p:nvPr/>
        </p:nvSpPr>
        <p:spPr>
          <a:xfrm>
            <a:off x="9829800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2" name="Shape 29"/>
          <p:cNvSpPr/>
          <p:nvPr/>
        </p:nvSpPr>
        <p:spPr>
          <a:xfrm>
            <a:off x="10026396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3" name="Shape 30"/>
          <p:cNvSpPr/>
          <p:nvPr/>
        </p:nvSpPr>
        <p:spPr>
          <a:xfrm>
            <a:off x="10222992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4" name="Shape 31"/>
          <p:cNvSpPr/>
          <p:nvPr/>
        </p:nvSpPr>
        <p:spPr>
          <a:xfrm>
            <a:off x="10419588" y="193395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5" name="Shape 32"/>
          <p:cNvSpPr/>
          <p:nvPr/>
        </p:nvSpPr>
        <p:spPr>
          <a:xfrm>
            <a:off x="7863840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6" name="Shape 33"/>
          <p:cNvSpPr/>
          <p:nvPr/>
        </p:nvSpPr>
        <p:spPr>
          <a:xfrm>
            <a:off x="8060436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7" name="Shape 34"/>
          <p:cNvSpPr/>
          <p:nvPr/>
        </p:nvSpPr>
        <p:spPr>
          <a:xfrm>
            <a:off x="8257032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8" name="Shape 35"/>
          <p:cNvSpPr/>
          <p:nvPr/>
        </p:nvSpPr>
        <p:spPr>
          <a:xfrm>
            <a:off x="8453628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39" name="Shape 36"/>
          <p:cNvSpPr/>
          <p:nvPr/>
        </p:nvSpPr>
        <p:spPr>
          <a:xfrm>
            <a:off x="8650224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0" name="Shape 37"/>
          <p:cNvSpPr/>
          <p:nvPr/>
        </p:nvSpPr>
        <p:spPr>
          <a:xfrm>
            <a:off x="8846820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1" name="Shape 38"/>
          <p:cNvSpPr/>
          <p:nvPr/>
        </p:nvSpPr>
        <p:spPr>
          <a:xfrm>
            <a:off x="9043416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2" name="Shape 39"/>
          <p:cNvSpPr/>
          <p:nvPr/>
        </p:nvSpPr>
        <p:spPr>
          <a:xfrm>
            <a:off x="9240012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3" name="Shape 40"/>
          <p:cNvSpPr/>
          <p:nvPr/>
        </p:nvSpPr>
        <p:spPr>
          <a:xfrm>
            <a:off x="9436608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4" name="Shape 41"/>
          <p:cNvSpPr/>
          <p:nvPr/>
        </p:nvSpPr>
        <p:spPr>
          <a:xfrm>
            <a:off x="9633204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5" name="Shape 42"/>
          <p:cNvSpPr/>
          <p:nvPr/>
        </p:nvSpPr>
        <p:spPr>
          <a:xfrm>
            <a:off x="9829800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6" name="Shape 43"/>
          <p:cNvSpPr/>
          <p:nvPr/>
        </p:nvSpPr>
        <p:spPr>
          <a:xfrm>
            <a:off x="10026396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7" name="Shape 44"/>
          <p:cNvSpPr/>
          <p:nvPr/>
        </p:nvSpPr>
        <p:spPr>
          <a:xfrm>
            <a:off x="10222992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8" name="Shape 45"/>
          <p:cNvSpPr/>
          <p:nvPr/>
        </p:nvSpPr>
        <p:spPr>
          <a:xfrm>
            <a:off x="10419588" y="213055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49" name="Shape 46"/>
          <p:cNvSpPr/>
          <p:nvPr/>
        </p:nvSpPr>
        <p:spPr>
          <a:xfrm>
            <a:off x="7863840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0" name="Shape 47"/>
          <p:cNvSpPr/>
          <p:nvPr/>
        </p:nvSpPr>
        <p:spPr>
          <a:xfrm>
            <a:off x="8060436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1" name="Shape 48"/>
          <p:cNvSpPr/>
          <p:nvPr/>
        </p:nvSpPr>
        <p:spPr>
          <a:xfrm>
            <a:off x="8257032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2" name="Shape 49"/>
          <p:cNvSpPr/>
          <p:nvPr/>
        </p:nvSpPr>
        <p:spPr>
          <a:xfrm>
            <a:off x="8453628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3" name="Shape 50"/>
          <p:cNvSpPr/>
          <p:nvPr/>
        </p:nvSpPr>
        <p:spPr>
          <a:xfrm>
            <a:off x="8650224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4" name="Shape 51"/>
          <p:cNvSpPr/>
          <p:nvPr/>
        </p:nvSpPr>
        <p:spPr>
          <a:xfrm>
            <a:off x="8846820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5" name="Shape 52"/>
          <p:cNvSpPr/>
          <p:nvPr/>
        </p:nvSpPr>
        <p:spPr>
          <a:xfrm>
            <a:off x="9043416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6" name="Shape 53"/>
          <p:cNvSpPr/>
          <p:nvPr/>
        </p:nvSpPr>
        <p:spPr>
          <a:xfrm>
            <a:off x="9240012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7" name="Shape 54"/>
          <p:cNvSpPr/>
          <p:nvPr/>
        </p:nvSpPr>
        <p:spPr>
          <a:xfrm>
            <a:off x="9436608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8" name="Shape 55"/>
          <p:cNvSpPr/>
          <p:nvPr/>
        </p:nvSpPr>
        <p:spPr>
          <a:xfrm>
            <a:off x="9633204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59" name="Shape 56"/>
          <p:cNvSpPr/>
          <p:nvPr/>
        </p:nvSpPr>
        <p:spPr>
          <a:xfrm>
            <a:off x="9829800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0" name="Shape 57"/>
          <p:cNvSpPr/>
          <p:nvPr/>
        </p:nvSpPr>
        <p:spPr>
          <a:xfrm>
            <a:off x="10026396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1" name="Shape 58"/>
          <p:cNvSpPr/>
          <p:nvPr/>
        </p:nvSpPr>
        <p:spPr>
          <a:xfrm>
            <a:off x="10222992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2" name="Shape 59"/>
          <p:cNvSpPr/>
          <p:nvPr/>
        </p:nvSpPr>
        <p:spPr>
          <a:xfrm>
            <a:off x="10419588" y="232714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3" name="Shape 60"/>
          <p:cNvSpPr/>
          <p:nvPr/>
        </p:nvSpPr>
        <p:spPr>
          <a:xfrm>
            <a:off x="7863840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4" name="Shape 61"/>
          <p:cNvSpPr/>
          <p:nvPr/>
        </p:nvSpPr>
        <p:spPr>
          <a:xfrm>
            <a:off x="8060436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5" name="Shape 62"/>
          <p:cNvSpPr/>
          <p:nvPr/>
        </p:nvSpPr>
        <p:spPr>
          <a:xfrm>
            <a:off x="8257032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6" name="Shape 63"/>
          <p:cNvSpPr/>
          <p:nvPr/>
        </p:nvSpPr>
        <p:spPr>
          <a:xfrm>
            <a:off x="8453628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7" name="Shape 64"/>
          <p:cNvSpPr/>
          <p:nvPr/>
        </p:nvSpPr>
        <p:spPr>
          <a:xfrm>
            <a:off x="8650224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8" name="Shape 65"/>
          <p:cNvSpPr/>
          <p:nvPr/>
        </p:nvSpPr>
        <p:spPr>
          <a:xfrm>
            <a:off x="8846820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69" name="Shape 66"/>
          <p:cNvSpPr/>
          <p:nvPr/>
        </p:nvSpPr>
        <p:spPr>
          <a:xfrm>
            <a:off x="9043416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0" name="Shape 67"/>
          <p:cNvSpPr/>
          <p:nvPr/>
        </p:nvSpPr>
        <p:spPr>
          <a:xfrm>
            <a:off x="9240012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1" name="Shape 68"/>
          <p:cNvSpPr/>
          <p:nvPr/>
        </p:nvSpPr>
        <p:spPr>
          <a:xfrm>
            <a:off x="9436608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2" name="Shape 69"/>
          <p:cNvSpPr/>
          <p:nvPr/>
        </p:nvSpPr>
        <p:spPr>
          <a:xfrm>
            <a:off x="9633204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3" name="Shape 70"/>
          <p:cNvSpPr/>
          <p:nvPr/>
        </p:nvSpPr>
        <p:spPr>
          <a:xfrm>
            <a:off x="9829800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4" name="Shape 71"/>
          <p:cNvSpPr/>
          <p:nvPr/>
        </p:nvSpPr>
        <p:spPr>
          <a:xfrm>
            <a:off x="10026396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5" name="Shape 72"/>
          <p:cNvSpPr/>
          <p:nvPr/>
        </p:nvSpPr>
        <p:spPr>
          <a:xfrm>
            <a:off x="10222992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6" name="Shape 73"/>
          <p:cNvSpPr/>
          <p:nvPr/>
        </p:nvSpPr>
        <p:spPr>
          <a:xfrm>
            <a:off x="10419588" y="252374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7" name="Shape 74"/>
          <p:cNvSpPr/>
          <p:nvPr/>
        </p:nvSpPr>
        <p:spPr>
          <a:xfrm>
            <a:off x="7863840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8" name="Shape 75"/>
          <p:cNvSpPr/>
          <p:nvPr/>
        </p:nvSpPr>
        <p:spPr>
          <a:xfrm>
            <a:off x="8060436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79" name="Shape 76"/>
          <p:cNvSpPr/>
          <p:nvPr/>
        </p:nvSpPr>
        <p:spPr>
          <a:xfrm>
            <a:off x="8257032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0" name="Shape 77"/>
          <p:cNvSpPr/>
          <p:nvPr/>
        </p:nvSpPr>
        <p:spPr>
          <a:xfrm>
            <a:off x="8453628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1" name="Shape 78"/>
          <p:cNvSpPr/>
          <p:nvPr/>
        </p:nvSpPr>
        <p:spPr>
          <a:xfrm>
            <a:off x="8650224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2" name="Shape 79"/>
          <p:cNvSpPr/>
          <p:nvPr/>
        </p:nvSpPr>
        <p:spPr>
          <a:xfrm>
            <a:off x="8846820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3" name="Shape 80"/>
          <p:cNvSpPr/>
          <p:nvPr/>
        </p:nvSpPr>
        <p:spPr>
          <a:xfrm>
            <a:off x="9043416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4" name="Shape 81"/>
          <p:cNvSpPr/>
          <p:nvPr/>
        </p:nvSpPr>
        <p:spPr>
          <a:xfrm>
            <a:off x="9240012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5" name="Shape 82"/>
          <p:cNvSpPr/>
          <p:nvPr/>
        </p:nvSpPr>
        <p:spPr>
          <a:xfrm>
            <a:off x="9436608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6" name="Shape 83"/>
          <p:cNvSpPr/>
          <p:nvPr/>
        </p:nvSpPr>
        <p:spPr>
          <a:xfrm>
            <a:off x="9633204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7" name="Shape 84"/>
          <p:cNvSpPr/>
          <p:nvPr/>
        </p:nvSpPr>
        <p:spPr>
          <a:xfrm>
            <a:off x="9829800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8" name="Shape 85"/>
          <p:cNvSpPr/>
          <p:nvPr/>
        </p:nvSpPr>
        <p:spPr>
          <a:xfrm>
            <a:off x="10026396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89" name="Shape 86"/>
          <p:cNvSpPr/>
          <p:nvPr/>
        </p:nvSpPr>
        <p:spPr>
          <a:xfrm>
            <a:off x="10222992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0" name="Shape 87"/>
          <p:cNvSpPr/>
          <p:nvPr/>
        </p:nvSpPr>
        <p:spPr>
          <a:xfrm>
            <a:off x="10419588" y="272034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1" name="Shape 88"/>
          <p:cNvSpPr/>
          <p:nvPr/>
        </p:nvSpPr>
        <p:spPr>
          <a:xfrm>
            <a:off x="7863840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2" name="Shape 89"/>
          <p:cNvSpPr/>
          <p:nvPr/>
        </p:nvSpPr>
        <p:spPr>
          <a:xfrm>
            <a:off x="8060436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3" name="Shape 90"/>
          <p:cNvSpPr/>
          <p:nvPr/>
        </p:nvSpPr>
        <p:spPr>
          <a:xfrm>
            <a:off x="8257032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4" name="Shape 91"/>
          <p:cNvSpPr/>
          <p:nvPr/>
        </p:nvSpPr>
        <p:spPr>
          <a:xfrm>
            <a:off x="8453628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5" name="Shape 92"/>
          <p:cNvSpPr/>
          <p:nvPr/>
        </p:nvSpPr>
        <p:spPr>
          <a:xfrm>
            <a:off x="8650224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6" name="Shape 93"/>
          <p:cNvSpPr/>
          <p:nvPr/>
        </p:nvSpPr>
        <p:spPr>
          <a:xfrm>
            <a:off x="8846820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7" name="Shape 94"/>
          <p:cNvSpPr/>
          <p:nvPr/>
        </p:nvSpPr>
        <p:spPr>
          <a:xfrm>
            <a:off x="9043416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8" name="Shape 95"/>
          <p:cNvSpPr/>
          <p:nvPr/>
        </p:nvSpPr>
        <p:spPr>
          <a:xfrm>
            <a:off x="9240012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99" name="Shape 96"/>
          <p:cNvSpPr/>
          <p:nvPr/>
        </p:nvSpPr>
        <p:spPr>
          <a:xfrm>
            <a:off x="9436608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0" name="Shape 97"/>
          <p:cNvSpPr/>
          <p:nvPr/>
        </p:nvSpPr>
        <p:spPr>
          <a:xfrm>
            <a:off x="9633204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1" name="Shape 98"/>
          <p:cNvSpPr/>
          <p:nvPr/>
        </p:nvSpPr>
        <p:spPr>
          <a:xfrm>
            <a:off x="9829800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2" name="Shape 99"/>
          <p:cNvSpPr/>
          <p:nvPr/>
        </p:nvSpPr>
        <p:spPr>
          <a:xfrm>
            <a:off x="10026396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3" name="Shape 100"/>
          <p:cNvSpPr/>
          <p:nvPr/>
        </p:nvSpPr>
        <p:spPr>
          <a:xfrm>
            <a:off x="10222992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0419588" y="291693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5" name="Shape 102"/>
          <p:cNvSpPr/>
          <p:nvPr/>
        </p:nvSpPr>
        <p:spPr>
          <a:xfrm>
            <a:off x="7863840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060436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257032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8" name="Shape 105"/>
          <p:cNvSpPr/>
          <p:nvPr/>
        </p:nvSpPr>
        <p:spPr>
          <a:xfrm>
            <a:off x="8453628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650224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0" name="Shape 107"/>
          <p:cNvSpPr/>
          <p:nvPr/>
        </p:nvSpPr>
        <p:spPr>
          <a:xfrm>
            <a:off x="8846820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1" name="Shape 108"/>
          <p:cNvSpPr/>
          <p:nvPr/>
        </p:nvSpPr>
        <p:spPr>
          <a:xfrm>
            <a:off x="9043416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2" name="Shape 109"/>
          <p:cNvSpPr/>
          <p:nvPr/>
        </p:nvSpPr>
        <p:spPr>
          <a:xfrm>
            <a:off x="9240012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3" name="Shape 110"/>
          <p:cNvSpPr/>
          <p:nvPr/>
        </p:nvSpPr>
        <p:spPr>
          <a:xfrm>
            <a:off x="9436608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4" name="Shape 111"/>
          <p:cNvSpPr/>
          <p:nvPr/>
        </p:nvSpPr>
        <p:spPr>
          <a:xfrm>
            <a:off x="9633204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5" name="Shape 112"/>
          <p:cNvSpPr/>
          <p:nvPr/>
        </p:nvSpPr>
        <p:spPr>
          <a:xfrm>
            <a:off x="9829800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6" name="Shape 113"/>
          <p:cNvSpPr/>
          <p:nvPr/>
        </p:nvSpPr>
        <p:spPr>
          <a:xfrm>
            <a:off x="10026396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7" name="Shape 114"/>
          <p:cNvSpPr/>
          <p:nvPr/>
        </p:nvSpPr>
        <p:spPr>
          <a:xfrm>
            <a:off x="10222992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8" name="Shape 115"/>
          <p:cNvSpPr/>
          <p:nvPr/>
        </p:nvSpPr>
        <p:spPr>
          <a:xfrm>
            <a:off x="10419588" y="3113532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19" name="Shape 116"/>
          <p:cNvSpPr/>
          <p:nvPr/>
        </p:nvSpPr>
        <p:spPr>
          <a:xfrm>
            <a:off x="7863840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0" name="Shape 117"/>
          <p:cNvSpPr/>
          <p:nvPr/>
        </p:nvSpPr>
        <p:spPr>
          <a:xfrm>
            <a:off x="8060436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1" name="Shape 118"/>
          <p:cNvSpPr/>
          <p:nvPr/>
        </p:nvSpPr>
        <p:spPr>
          <a:xfrm>
            <a:off x="8257032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2" name="Shape 119"/>
          <p:cNvSpPr/>
          <p:nvPr/>
        </p:nvSpPr>
        <p:spPr>
          <a:xfrm>
            <a:off x="8453628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3" name="Shape 120"/>
          <p:cNvSpPr/>
          <p:nvPr/>
        </p:nvSpPr>
        <p:spPr>
          <a:xfrm>
            <a:off x="8650224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4" name="Shape 121"/>
          <p:cNvSpPr/>
          <p:nvPr/>
        </p:nvSpPr>
        <p:spPr>
          <a:xfrm>
            <a:off x="8846820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5" name="Shape 122"/>
          <p:cNvSpPr/>
          <p:nvPr/>
        </p:nvSpPr>
        <p:spPr>
          <a:xfrm>
            <a:off x="9043416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6" name="Shape 123"/>
          <p:cNvSpPr/>
          <p:nvPr/>
        </p:nvSpPr>
        <p:spPr>
          <a:xfrm>
            <a:off x="9240012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7" name="Shape 124"/>
          <p:cNvSpPr/>
          <p:nvPr/>
        </p:nvSpPr>
        <p:spPr>
          <a:xfrm>
            <a:off x="9436608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8" name="Shape 125"/>
          <p:cNvSpPr/>
          <p:nvPr/>
        </p:nvSpPr>
        <p:spPr>
          <a:xfrm>
            <a:off x="9633204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29" name="Shape 126"/>
          <p:cNvSpPr/>
          <p:nvPr/>
        </p:nvSpPr>
        <p:spPr>
          <a:xfrm>
            <a:off x="9829800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026396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1" name="Shape 128"/>
          <p:cNvSpPr/>
          <p:nvPr/>
        </p:nvSpPr>
        <p:spPr>
          <a:xfrm>
            <a:off x="10222992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2" name="Shape 129"/>
          <p:cNvSpPr/>
          <p:nvPr/>
        </p:nvSpPr>
        <p:spPr>
          <a:xfrm>
            <a:off x="10419588" y="3310128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3" name="Shape 130"/>
          <p:cNvSpPr/>
          <p:nvPr/>
        </p:nvSpPr>
        <p:spPr>
          <a:xfrm>
            <a:off x="7863840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4" name="Shape 131"/>
          <p:cNvSpPr/>
          <p:nvPr/>
        </p:nvSpPr>
        <p:spPr>
          <a:xfrm>
            <a:off x="8060436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5" name="Shape 132"/>
          <p:cNvSpPr/>
          <p:nvPr/>
        </p:nvSpPr>
        <p:spPr>
          <a:xfrm>
            <a:off x="8257032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453628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7" name="Shape 134"/>
          <p:cNvSpPr/>
          <p:nvPr/>
        </p:nvSpPr>
        <p:spPr>
          <a:xfrm>
            <a:off x="8650224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8" name="Shape 135"/>
          <p:cNvSpPr/>
          <p:nvPr/>
        </p:nvSpPr>
        <p:spPr>
          <a:xfrm>
            <a:off x="8846820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39" name="Shape 136"/>
          <p:cNvSpPr/>
          <p:nvPr/>
        </p:nvSpPr>
        <p:spPr>
          <a:xfrm>
            <a:off x="9043416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0" name="Shape 137"/>
          <p:cNvSpPr/>
          <p:nvPr/>
        </p:nvSpPr>
        <p:spPr>
          <a:xfrm>
            <a:off x="9240012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1" name="Shape 138"/>
          <p:cNvSpPr/>
          <p:nvPr/>
        </p:nvSpPr>
        <p:spPr>
          <a:xfrm>
            <a:off x="9436608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2" name="Shape 139"/>
          <p:cNvSpPr/>
          <p:nvPr/>
        </p:nvSpPr>
        <p:spPr>
          <a:xfrm>
            <a:off x="9633204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3" name="Shape 140"/>
          <p:cNvSpPr/>
          <p:nvPr/>
        </p:nvSpPr>
        <p:spPr>
          <a:xfrm>
            <a:off x="9829800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4" name="Shape 141"/>
          <p:cNvSpPr/>
          <p:nvPr/>
        </p:nvSpPr>
        <p:spPr>
          <a:xfrm>
            <a:off x="10026396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5" name="Shape 142"/>
          <p:cNvSpPr/>
          <p:nvPr/>
        </p:nvSpPr>
        <p:spPr>
          <a:xfrm>
            <a:off x="10222992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6" name="Shape 143"/>
          <p:cNvSpPr/>
          <p:nvPr/>
        </p:nvSpPr>
        <p:spPr>
          <a:xfrm>
            <a:off x="10419588" y="3506724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7" name="Shape 144"/>
          <p:cNvSpPr/>
          <p:nvPr/>
        </p:nvSpPr>
        <p:spPr>
          <a:xfrm>
            <a:off x="7863840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8" name="Shape 145"/>
          <p:cNvSpPr/>
          <p:nvPr/>
        </p:nvSpPr>
        <p:spPr>
          <a:xfrm>
            <a:off x="8060436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49" name="Shape 146"/>
          <p:cNvSpPr/>
          <p:nvPr/>
        </p:nvSpPr>
        <p:spPr>
          <a:xfrm>
            <a:off x="8257032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0" name="Shape 147"/>
          <p:cNvSpPr/>
          <p:nvPr/>
        </p:nvSpPr>
        <p:spPr>
          <a:xfrm>
            <a:off x="8453628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1" name="Shape 148"/>
          <p:cNvSpPr/>
          <p:nvPr/>
        </p:nvSpPr>
        <p:spPr>
          <a:xfrm>
            <a:off x="8650224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2" name="Shape 149"/>
          <p:cNvSpPr/>
          <p:nvPr/>
        </p:nvSpPr>
        <p:spPr>
          <a:xfrm>
            <a:off x="8846820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3" name="Shape 150"/>
          <p:cNvSpPr/>
          <p:nvPr/>
        </p:nvSpPr>
        <p:spPr>
          <a:xfrm>
            <a:off x="9043416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4" name="Shape 151"/>
          <p:cNvSpPr/>
          <p:nvPr/>
        </p:nvSpPr>
        <p:spPr>
          <a:xfrm>
            <a:off x="9240012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5" name="Shape 152"/>
          <p:cNvSpPr/>
          <p:nvPr/>
        </p:nvSpPr>
        <p:spPr>
          <a:xfrm>
            <a:off x="9436608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6" name="Shape 153"/>
          <p:cNvSpPr/>
          <p:nvPr/>
        </p:nvSpPr>
        <p:spPr>
          <a:xfrm>
            <a:off x="9633204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7" name="Shape 154"/>
          <p:cNvSpPr/>
          <p:nvPr/>
        </p:nvSpPr>
        <p:spPr>
          <a:xfrm>
            <a:off x="9829800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8" name="Shape 155"/>
          <p:cNvSpPr/>
          <p:nvPr/>
        </p:nvSpPr>
        <p:spPr>
          <a:xfrm>
            <a:off x="10026396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59" name="Shape 156"/>
          <p:cNvSpPr/>
          <p:nvPr/>
        </p:nvSpPr>
        <p:spPr>
          <a:xfrm>
            <a:off x="10222992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0" name="Shape 157"/>
          <p:cNvSpPr/>
          <p:nvPr/>
        </p:nvSpPr>
        <p:spPr>
          <a:xfrm>
            <a:off x="10419588" y="3703320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1" name="Shape 158"/>
          <p:cNvSpPr/>
          <p:nvPr/>
        </p:nvSpPr>
        <p:spPr>
          <a:xfrm>
            <a:off x="7863840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2" name="Shape 159"/>
          <p:cNvSpPr/>
          <p:nvPr/>
        </p:nvSpPr>
        <p:spPr>
          <a:xfrm>
            <a:off x="8060436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3" name="Shape 160"/>
          <p:cNvSpPr/>
          <p:nvPr/>
        </p:nvSpPr>
        <p:spPr>
          <a:xfrm>
            <a:off x="8257032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4" name="Shape 161"/>
          <p:cNvSpPr/>
          <p:nvPr/>
        </p:nvSpPr>
        <p:spPr>
          <a:xfrm>
            <a:off x="8453628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5" name="Shape 162"/>
          <p:cNvSpPr/>
          <p:nvPr/>
        </p:nvSpPr>
        <p:spPr>
          <a:xfrm>
            <a:off x="8650224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6" name="Shape 163"/>
          <p:cNvSpPr/>
          <p:nvPr/>
        </p:nvSpPr>
        <p:spPr>
          <a:xfrm>
            <a:off x="8846820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7" name="Shape 164"/>
          <p:cNvSpPr/>
          <p:nvPr/>
        </p:nvSpPr>
        <p:spPr>
          <a:xfrm>
            <a:off x="9043416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8" name="Shape 165"/>
          <p:cNvSpPr/>
          <p:nvPr/>
        </p:nvSpPr>
        <p:spPr>
          <a:xfrm>
            <a:off x="9240012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69" name="Shape 166"/>
          <p:cNvSpPr/>
          <p:nvPr/>
        </p:nvSpPr>
        <p:spPr>
          <a:xfrm>
            <a:off x="9436608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0" name="Shape 167"/>
          <p:cNvSpPr/>
          <p:nvPr/>
        </p:nvSpPr>
        <p:spPr>
          <a:xfrm>
            <a:off x="9633204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1" name="Shape 168"/>
          <p:cNvSpPr/>
          <p:nvPr/>
        </p:nvSpPr>
        <p:spPr>
          <a:xfrm>
            <a:off x="9829800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2" name="Shape 169"/>
          <p:cNvSpPr/>
          <p:nvPr/>
        </p:nvSpPr>
        <p:spPr>
          <a:xfrm>
            <a:off x="10026396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3" name="Shape 170"/>
          <p:cNvSpPr/>
          <p:nvPr/>
        </p:nvSpPr>
        <p:spPr>
          <a:xfrm>
            <a:off x="10222992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4" name="Shape 171"/>
          <p:cNvSpPr/>
          <p:nvPr/>
        </p:nvSpPr>
        <p:spPr>
          <a:xfrm>
            <a:off x="10419588" y="3899916"/>
            <a:ext cx="105156" cy="105156"/>
          </a:xfrm>
          <a:prstGeom prst="ellipse">
            <a:avLst/>
          </a:prstGeom>
          <a:solidFill>
            <a:srgbClr val="2E3444"/>
          </a:solidFill>
          <a:ln/>
        </p:spPr>
      </p:sp>
      <p:sp>
        <p:nvSpPr>
          <p:cNvPr id="175" name="Text 172"/>
          <p:cNvSpPr/>
          <p:nvPr/>
        </p:nvSpPr>
        <p:spPr>
          <a:xfrm>
            <a:off x="786384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 читают 5–6</a:t>
            </a:r>
            <a:endParaRPr lang="en-US" sz="1300" dirty="0"/>
          </a:p>
        </p:txBody>
      </p:sp>
      <p:sp>
        <p:nvSpPr>
          <p:cNvPr id="176" name="Shape 173"/>
          <p:cNvSpPr/>
          <p:nvPr/>
        </p:nvSpPr>
        <p:spPr>
          <a:xfrm>
            <a:off x="685800" y="219456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1005840" y="23774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вопрос заказчику:</a:t>
            </a:r>
            <a:endParaRPr lang="en-US" sz="1400" dirty="0"/>
          </a:p>
        </p:txBody>
      </p:sp>
      <p:sp>
        <p:nvSpPr>
          <p:cNvPr id="178" name="Text 175"/>
          <p:cNvSpPr/>
          <p:nvPr/>
        </p:nvSpPr>
        <p:spPr>
          <a:xfrm>
            <a:off x="1005840" y="26974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участников</a:t>
            </a:r>
            <a:endParaRPr lang="en-US" sz="24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будет ли шорт-лист?</a:t>
            </a:r>
            <a:endParaRPr lang="en-US" sz="2400" dirty="0"/>
          </a:p>
        </p:txBody>
      </p:sp>
      <p:sp>
        <p:nvSpPr>
          <p:cNvPr id="179" name="Text 176"/>
          <p:cNvSpPr/>
          <p:nvPr/>
        </p:nvSpPr>
        <p:spPr>
          <a:xfrm>
            <a:off x="1005840" y="3840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15 участников и нет шорт-листа —</a:t>
            </a:r>
            <a:endParaRPr lang="en-US" sz="20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не в тендере, вы в фокус-группе</a:t>
            </a:r>
            <a:endParaRPr lang="en-US" sz="2000" dirty="0"/>
          </a:p>
        </p:txBody>
      </p:sp>
      <p:sp>
        <p:nvSpPr>
          <p:cNvPr id="180" name="Text 177"/>
          <p:cNvSpPr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всё же идёте — идите дёшево. Понимание задачи, кейсы, команда, подход. Полную концепцию разрабатываете только после шорт-листа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ВХОДНОЙ ЦЕНЗ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проверяют до того,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посмотрят на вашу идею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260604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715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компании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89120" y="260604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2715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Исполненные контракты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01000" y="260604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7032" y="2715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 и кейсы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338328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34930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89120" y="338328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45152" y="34930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 именами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01000" y="338328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34930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Обороты, свойственные отрасли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с оборотом 30 млн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получит проект на 40 млн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Никогда. Даже с лучшей идеей на питче — вас снимет служба безопасности заказчика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нет строки «критерии оценки»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40080" y="1709928"/>
            <a:ext cx="10607040" cy="530352"/>
          </a:xfrm>
          <a:prstGeom prst="roundRect">
            <a:avLst>
              <a:gd name="adj" fmla="val 13793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агентств участвует, есть ли шорт-лист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5040" y="190195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90195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F0862E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23865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Доступ: живой контакт с ЛПР, брифинг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35040" y="2505456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505456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F0862E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0" y="2386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2990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Проходим ли входной ценз: обороты, история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3108960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108960"/>
            <a:ext cx="2926080" cy="173736"/>
          </a:xfrm>
          <a:prstGeom prst="roundRect">
            <a:avLst>
              <a:gd name="adj" fmla="val 26316"/>
            </a:avLst>
          </a:prstGeom>
          <a:solidFill>
            <a:srgbClr val="F0862E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9900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593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Действующий подрядчик: есть ли, почему меняют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35040" y="3712464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712464"/>
            <a:ext cx="2194560" cy="173736"/>
          </a:xfrm>
          <a:prstGeom prst="roundRect">
            <a:avLst>
              <a:gd name="adj" fmla="val 26316"/>
            </a:avLst>
          </a:prstGeom>
          <a:solidFill>
            <a:srgbClr val="F0862E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66960" y="3593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22960" y="41970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Экономика: назван ли бюджет, условия оплаты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035040" y="4315968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315968"/>
            <a:ext cx="2194560" cy="173736"/>
          </a:xfrm>
          <a:prstGeom prst="roundRect">
            <a:avLst>
              <a:gd name="adj" fmla="val 26316"/>
            </a:avLst>
          </a:prstGeom>
          <a:solidFill>
            <a:srgbClr val="F0862E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66960" y="41970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229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035040" y="4919472"/>
            <a:ext cx="3657600" cy="173736"/>
          </a:xfrm>
          <a:prstGeom prst="roundRect">
            <a:avLst>
              <a:gd name="adj" fmla="val 26316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4919472"/>
            <a:ext cx="731520" cy="173736"/>
          </a:xfrm>
          <a:prstGeom prst="roundRect">
            <a:avLst>
              <a:gd name="adj" fmla="val 26316"/>
            </a:avLst>
          </a:prstGeom>
          <a:solidFill>
            <a:srgbClr val="F0862E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4800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не существует — оценка субъективна. Зато появились «доступ» и «сколько участников»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956"/>
              </a:lnSpc>
              <a:buNone/>
            </a:pPr>
            <a:r>
              <a:rPr lang="en-US" sz="4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Тендеры проигрываются</a:t>
            </a:r>
            <a:endParaRPr lang="en-US" sz="4200" dirty="0"/>
          </a:p>
          <a:p>
            <a:pPr indent="0" marL="0">
              <a:lnSpc>
                <a:spcPts val="4956"/>
              </a:lnSpc>
              <a:buNone/>
            </a:pPr>
            <a:r>
              <a:rPr lang="en-US" sz="4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креативе, смете</a:t>
            </a:r>
            <a:endParaRPr lang="en-US" sz="4200" dirty="0"/>
          </a:p>
          <a:p>
            <a:pPr indent="0" marL="0">
              <a:lnSpc>
                <a:spcPts val="4956"/>
              </a:lnSpc>
              <a:buNone/>
            </a:pPr>
            <a:r>
              <a:rPr lang="en-US" sz="4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документах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проигрываются раньше — там, где команда не считает важным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 · ПРИЧИНА 1 ИЗ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965960" y="9144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во все тендеры подряд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скоринга и квалификации на входе: не оценили шансы, бюджет, свои ресурсы, конкурентов, историю и репутацию клиента.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размазывается на десять предложений вместо трёх сильных.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5029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519379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Проигрыш заложен ещё в момент, когда сказали «да»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 · ПРИЧИНА 2 ИЗ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965960" y="9144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выяснили реальный критерий выбора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брифе часто написано одно, а решение принимается по-другому. Единого фактора нет — он свой для каждого клиента и даже для каждого ЛПР внутри одного клиента.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246120"/>
            <a:ext cx="2304288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24612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к компании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3246120"/>
            <a:ext cx="2409444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3246120"/>
            <a:ext cx="24094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в этой локации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65876" y="3246120"/>
            <a:ext cx="2093976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65876" y="324612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в категории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24444" y="3246120"/>
            <a:ext cx="3040380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4444" y="3246120"/>
            <a:ext cx="30403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конкретные люди в команде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776472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7764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коллаборация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502152" y="3776472"/>
            <a:ext cx="2724912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02152" y="377647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 с эксклюзивом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91656" y="3776472"/>
            <a:ext cx="2199132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377647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спикер или артист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755380" y="377647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55380" y="3776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вайб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7240" y="5029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519379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назвали критерий — значит, ещё не начали работать над тендером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 · ПРИЧИНА 3 ИЗ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965960" y="9144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Ответили на ТЗ, а не на бизнес-задачу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просит мероприятие. А на самом деле ему нужно удержать команду или запустить продукт — и тогда эффективнее может быть серия встреч в офисе или роуд-шоу.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33832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Дебрифинг с доп. вопросами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3977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сделает клиент отдельный дебриф для вас или нет — зависит от отношения к компании. Это индикатор: согласился — вы в игре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33832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Бриф-рекап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37960" y="3977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 бриф после дебрифинга и выслать на согласование — чтобы было зафиксировано ровно так, как вы услышали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5029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519379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копнул глубже, выигрывает у того, кто аккуратно сделал всё по ТЗ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 · ПРИЧИНА 4 ИЗ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965960" y="9144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Ждали вместо того, чтобы действовать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отправки у большинства включается режим ожидания. А можно задать себе вопрос, который меняет всю игру: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310896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я ещё лично могу сделать, чтобы этот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выиграли и реализовывали мы?»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дослать дополнительную идею   ·   проработать ещё площадки   ·   уточнить нюанс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5029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519379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только в коммерции. В госзакупке — запрещено регламентом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СТОП-ФАКТОРЫ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не идём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2194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15 агентств и нет шорт-листа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07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80160" y="28529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контакта с ЛПР, вопросы задавать некому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465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280160" y="351129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не называют даже вилкой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41239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80160" y="416966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«Пришлите концепцию, потом поговорим»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4782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8280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проходите по обороту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Звучит очевидно. Но команды с сильным продуктом теряют проекты именно на этом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Выиграть и заработать —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задачи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68680" y="4754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в чат: какая маржа в смете, которую вы отправляете заказчику?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СТОП-ФАКТОР №1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НДС крупные заказчики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крупными бюджетами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вами работать не будут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«неохотно». Не будут.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собрал цены по открытым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источникам. В смете маржа 30%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2313432" cy="777240"/>
          </a:xfrm>
          <a:prstGeom prst="rect">
            <a:avLst/>
          </a:prstGeom>
          <a:solidFill>
            <a:srgbClr val="E5484D"/>
          </a:solidFill>
          <a:ln w="12700">
            <a:solidFill>
              <a:srgbClr val="1214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51460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НДС 22%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136392" y="2514600"/>
            <a:ext cx="1577340" cy="777240"/>
          </a:xfrm>
          <a:prstGeom prst="rect">
            <a:avLst/>
          </a:prstGeom>
          <a:solidFill>
            <a:srgbClr val="F0862E"/>
          </a:solidFill>
          <a:ln w="12700">
            <a:solidFill>
              <a:srgbClr val="1214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36392" y="251460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13732" y="2514600"/>
            <a:ext cx="6624828" cy="777240"/>
          </a:xfrm>
          <a:prstGeom prst="rect">
            <a:avLst/>
          </a:prstGeom>
          <a:solidFill>
            <a:srgbClr val="2E3444"/>
          </a:solidFill>
          <a:ln w="12700">
            <a:solidFill>
              <a:srgbClr val="1214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13732" y="2514600"/>
            <a:ext cx="66248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осталось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36118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7764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Подрядчики на УСН — входящего НДС нет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7280" y="43159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зачесть нечем, платите налог со всей суммы контракта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36118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7764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Они накидывают свой налог в цену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43159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к ценам из открытых источников ещё 15%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5029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7600" dirty="0"/>
          </a:p>
        </p:txBody>
      </p:sp>
      <p:sp>
        <p:nvSpPr>
          <p:cNvPr id="20" name="Text 17"/>
          <p:cNvSpPr/>
          <p:nvPr/>
        </p:nvSpPr>
        <p:spPr>
          <a:xfrm>
            <a:off x="3749040" y="50292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сметы просто растворилось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10 млн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СМЕТЕ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ЖИЗНИ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с заказчиком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10 000 000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039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10 000 000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без НДС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0" y="2395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думал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0392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8 197 000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29626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НДС к уплате, зачесть нечем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0" y="2962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29626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1 803 000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3529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у подрядчиков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0" y="35295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7 000 000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03920" y="3529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8 050 000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425196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3708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Осталось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486400" y="4370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3 000 000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503920" y="43708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147 000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2960" y="5349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486400" y="5303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503920" y="5303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1,5%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во времени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3A1E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91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377440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87752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3A1E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87752" y="1691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87952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98264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3A1E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98264" y="1691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подрядчиков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98464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08776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C202B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08776" y="1691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08976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19288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C202B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19288" y="1691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Акты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отчёт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19488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8298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C202B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29800" y="1691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дней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платите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792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 платят — до 6 месяцев спустя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7240" y="34290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36118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под 20% годовых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млн на 90 дней ≈ 400 000 ₽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4% контракта, которых нет в смете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7920" y="34290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6118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Факторинг и тендерные займы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53796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смотрите, от какой суммы считают: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2,5% в месяц от изначальной ≠ 2,5%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Считайте не ставку в месяц, а сколько отдадите за весь срок и от какой базы это считается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маржа  =  смета  −  НДС без вычета  −  надбавки подрядчиков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стоимость денег за срок постоплаты  −  обеспечение  −  отчётность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251460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2880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win rate  =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94960" y="2788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подачи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3346704"/>
            <a:ext cx="5486400" cy="3200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3429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реальная маржа с победы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2960" y="4389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порога — канал убыточен. Не «пока не раскрутился», а убыточен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77240" y="498348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49834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по каждому рынку отдельно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498348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49834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подачи и стоимость победы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564184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64184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до денег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564184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564184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повторных заказов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платит — определяет, сколько вы будете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доказывать, что работу сделали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2148840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262B38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148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Коммерческий заказчик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21488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одной строкой, иногда фотоотчёт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907792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2E2A38"/>
          </a:solidFill>
          <a:ln w="12700">
            <a:solidFill>
              <a:srgbClr val="2E2A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9077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0" y="290779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+ приложения по регламенту, фотофиксация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3666744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382E33"/>
          </a:solidFill>
          <a:ln w="12700">
            <a:solidFill>
              <a:srgbClr val="382E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6667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бюджет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0" y="36667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документов, сверка по каждой позиции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4425696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44302F"/>
          </a:solidFill>
          <a:ln w="12700">
            <a:solidFill>
              <a:srgbClr val="4430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4256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бюджет, министерство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0" y="442569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тяжёлый вариант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5184648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50302C"/>
          </a:solidFill>
          <a:ln w="12700">
            <a:solidFill>
              <a:srgbClr val="5030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5184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Казначейское сопровождение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0" y="518464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счёт, каждая оплата согласуется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28"/>
              </a:lnSpc>
              <a:buNone/>
            </a:pPr>
            <a:r>
              <a:rPr lang="en-US" sz="4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отчёт мы</a:t>
            </a:r>
            <a:endParaRPr lang="en-US" sz="4600" dirty="0"/>
          </a:p>
          <a:p>
            <a:pPr indent="0" marL="0">
              <a:lnSpc>
                <a:spcPts val="5428"/>
              </a:lnSpc>
              <a:buNone/>
            </a:pPr>
            <a:r>
              <a:rPr lang="en-US" sz="4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привозили на газели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6868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проект, сопоставимый бюджет — акт на одной строчке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в трудозатратах — недели, и тратите вы их после мероприятия,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команда переключилась, а деньги ещё не пришли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практических вывода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210312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965960" y="23774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плательщика — строка в скоринге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65960" y="28803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госов я поставил ей 15 баллов не случайно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370332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965960" y="39776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отчётности — строка в смете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65960" y="44805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конкретные человеко-часы конкретного человека, а не «потом оформим»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РЫЧАГИ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Рычаги по рынкам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17373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 И КОРПОРАЦИИ — ДО ПОДАЧИ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97280" y="2496312"/>
            <a:ext cx="100584" cy="10058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3682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ТЗ до публикации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7280" y="2999232"/>
            <a:ext cx="100584" cy="10058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28712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Попадание в пул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97280" y="3502152"/>
            <a:ext cx="100584" cy="10058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33741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разъяснений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7280" y="4005072"/>
            <a:ext cx="100584" cy="10058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3877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вместо скидки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97280" y="4507992"/>
            <a:ext cx="100584" cy="10058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43799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по требованиям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17373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КОММЕРЦИЯ — ДО И ПОСЛЕ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0" y="2496312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23682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Дебрифинг с доп. вопросами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0" y="2999232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28712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Бриф-рекап на согласование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83680" y="3502152"/>
            <a:ext cx="100584" cy="100584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0" y="33741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Проактивность после подачи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77240" y="52578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43000" y="53949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10% съедает всю маржу. Два балла за подтверждённый опыт достаются бесплатно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делает первый этап воронки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Факты: НМЦ, сроки,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обеспечение, документы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3504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участия: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риски, чек-лист, дедлайны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7824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06840" y="18288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телеграм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7240" y="34290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5661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ничего не выдумывать. Чего нет на странице — «не указано»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868680" y="4828032"/>
            <a:ext cx="100584" cy="100584"/>
          </a:xfrm>
          <a:prstGeom prst="ellipse">
            <a:avLst/>
          </a:prstGeom>
          <a:solidFill>
            <a:srgbClr val="3DAE72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47000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«идти / не идти» за минуты вместо часов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68680" y="5285232"/>
            <a:ext cx="100584" cy="100584"/>
          </a:xfrm>
          <a:prstGeom prst="ellipse">
            <a:avLst/>
          </a:prstGeom>
          <a:solidFill>
            <a:srgbClr val="3DAE72"/>
          </a:solidFill>
          <a:ln/>
        </p:spPr>
      </p:sp>
      <p:sp>
        <p:nvSpPr>
          <p:cNvPr id="22" name="Text 19"/>
          <p:cNvSpPr/>
          <p:nvPr/>
        </p:nvSpPr>
        <p:spPr>
          <a:xfrm>
            <a:off x="1143000" y="51572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без человека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68680" y="5742432"/>
            <a:ext cx="100584" cy="100584"/>
          </a:xfrm>
          <a:prstGeom prst="ellipse">
            <a:avLst/>
          </a:prstGeom>
          <a:solidFill>
            <a:srgbClr val="3DAE72"/>
          </a:solidFill>
          <a:ln/>
        </p:spPr>
      </p:sp>
      <p:sp>
        <p:nvSpPr>
          <p:cNvPr id="24" name="Text 21"/>
          <p:cNvSpPr/>
          <p:nvPr/>
        </p:nvSpPr>
        <p:spPr>
          <a:xfrm>
            <a:off x="1143000" y="56144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процедура не теряется по дедлайну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74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94592" y="329184"/>
            <a:ext cx="155448" cy="155448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731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ИИ не работает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984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920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Писать заявку целиком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3134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выдуманная цифра в подтверждении опыта — отклонение, в плохом сценарии РНП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92608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127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691640" y="3063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Считать смету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691640" y="34564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те самые 37% — модель сделает ту же ошибку, только быстрее и убедительнее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C202B"/>
          </a:solidFill>
          <a:ln w="12700">
            <a:solidFill>
              <a:srgbClr val="1C20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270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691640" y="4206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Понимать реальный критерий выбора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91640" y="45994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причина №2 из четырёх — только в разговоре, не в документации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53492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232838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54864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Автоматизируйте отбор, а не творчество</a:t>
            </a:r>
            <a:endParaRPr lang="en-US" sz="2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забрать с собой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08760" y="15544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Тендеры — три разных бизнеса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19659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госы, госкорпорации, коммерция. Не переносите опыт с одного на другой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569464"/>
            <a:ext cx="457200" cy="457200"/>
          </a:xfrm>
          <a:prstGeom prst="ellipse">
            <a:avLst/>
          </a:prstGeom>
          <a:solidFill>
            <a:srgbClr val="9B6BD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249631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решение — «подавать ли», а не «как подать»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08760" y="29077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берём в проработку 20% входящего потока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08760" y="343814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Проигрывают до отправки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08760" y="38496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взяли всё подряд · не выяснили критерий · ответили на ТЗ · ждали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4453128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08760" y="437997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считается не по смете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08760" y="479145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НДС, надбавки подрядчиков, стоимость денег, отчётность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3DAE72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508760" y="532180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Автоматизируйте отбор, а не творчество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508760" y="57332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отбора — 80% времени и 0% вашей уникальности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@eventstory_by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868680" y="3383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Выложу три таблицы скоринга — по госам, корпорациям и коммерции —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чек-лист по семи признакам заточки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Игорь Иванов  ·  DoctorTeam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выигрывать тендеры</dc:title>
  <dc:subject>PptxGenJS Presentation</dc:subject>
  <dc:creator>Игорь Иванов, DoctorTeam</dc:creator>
  <cp:lastModifiedBy>Игорь Иванов, DoctorTeam</cp:lastModifiedBy>
  <cp:revision>1</cp:revision>
  <dcterms:created xsi:type="dcterms:W3CDTF">2026-08-06T05:55:31Z</dcterms:created>
  <dcterms:modified xsi:type="dcterms:W3CDTF">2026-08-06T05:55:31Z</dcterms:modified>
</cp:coreProperties>
</file>